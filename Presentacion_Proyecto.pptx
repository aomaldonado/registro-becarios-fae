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03366"/>
                </a:solidFill>
                <a:latin typeface="Segoe UI"/>
              </a:rPr>
              <a:t>Sistema de Registro de Novedades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latin typeface="Segoe UI"/>
              </a:rPr>
              <a:t>Proyecto Integrador - 2do Semestre</a:t>
            </a:r>
          </a:p>
          <a:p>
            <a:r>
              <a:rPr sz="2400">
                <a:latin typeface="Segoe UI"/>
              </a:rPr>
              <a:t>Integrantes: Bryan Tello, Andrés Maldonado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>
                <a:solidFill>
                  <a:srgbClr val="003366"/>
                </a:solidFill>
                <a:latin typeface="Segoe UI"/>
              </a:rPr>
              <a:t>El Problema y la Solución (Elevator Pitch)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Segoe UI"/>
              </a:rPr>
              <a:t>Problema:</a:t>
            </a:r>
          </a:p>
          <a:p>
            <a:pPr/>
            <a:r>
              <a:rPr sz="2000">
                <a:latin typeface="Segoe UI"/>
              </a:rPr>
              <a:t>• Pérdida de información en el registro manual de becarios.</a:t>
            </a:r>
          </a:p>
          <a:p>
            <a:pPr/>
            <a:r>
              <a:rPr sz="2000">
                <a:latin typeface="Segoe UI"/>
              </a:rPr>
              <a:t>• Falta de trazabilidad en las operaciones críticas.</a:t>
            </a:r>
          </a:p>
          <a:p>
            <a:pPr/>
          </a:p>
          <a:p>
            <a:pPr/>
            <a:r>
              <a:rPr sz="2000">
                <a:latin typeface="Segoe UI"/>
              </a:rPr>
              <a:t>Solución:</a:t>
            </a:r>
          </a:p>
          <a:p>
            <a:pPr/>
            <a:r>
              <a:rPr sz="2000">
                <a:latin typeface="Segoe UI"/>
              </a:rPr>
              <a:t>• Una plataforma web centralizada, escalable y segura.</a:t>
            </a:r>
          </a:p>
          <a:p>
            <a:pPr/>
            <a:r>
              <a:rPr sz="2000">
                <a:latin typeface="Segoe UI"/>
              </a:rPr>
              <a:t>• Automatización de reportes y notificaciones en tiempo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>
                <a:solidFill>
                  <a:srgbClr val="003366"/>
                </a:solidFill>
                <a:latin typeface="Segoe UI"/>
              </a:rPr>
              <a:t>Arquitectura de Bases de Datos (Seguridad y Dominio)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Segoe UI"/>
              </a:rPr>
              <a:t>Aislamiento de Responsabilidades:</a:t>
            </a:r>
          </a:p>
          <a:p>
            <a:pPr/>
            <a:r>
              <a:rPr sz="2000">
                <a:latin typeface="Segoe UI"/>
              </a:rPr>
              <a:t>• PostgreSQL: Seguridad (Usuarios, Perfiles, Contraseñas encriptadas).</a:t>
            </a:r>
          </a:p>
          <a:p>
            <a:pPr/>
            <a:r>
              <a:rPr sz="2000">
                <a:latin typeface="Segoe UI"/>
              </a:rPr>
              <a:t>• SQL Server: Negocio (Becarios, Novedades, Reportes).</a:t>
            </a:r>
          </a:p>
          <a:p>
            <a:pPr/>
          </a:p>
          <a:p>
            <a:pPr/>
            <a:r>
              <a:rPr sz="2000">
                <a:latin typeface="Segoe UI"/>
              </a:rPr>
              <a:t>Integridad de Datos:</a:t>
            </a:r>
          </a:p>
          <a:p>
            <a:pPr/>
            <a:r>
              <a:rPr sz="2000">
                <a:latin typeface="Segoe UI"/>
              </a:rPr>
              <a:t>• Reglas de negocio manejadas por Procedimientos Almacenados (SPs).</a:t>
            </a:r>
          </a:p>
          <a:p>
            <a:pPr/>
            <a:r>
              <a:rPr sz="2000">
                <a:latin typeface="Segoe UI"/>
              </a:rPr>
              <a:t>• Validaciones a nivel motor (UNIQUE, CHECK).</a:t>
            </a:r>
          </a:p>
          <a:p>
            <a:pPr/>
            <a:r>
              <a:rPr sz="2000">
                <a:latin typeface="Segoe UI"/>
              </a:rPr>
              <a:t>• Triggers para automatización de la Auditoría interna.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>
                <a:solidFill>
                  <a:srgbClr val="003366"/>
                </a:solidFill>
                <a:latin typeface="Segoe UI"/>
              </a:rPr>
              <a:t>Programación Orientada a Objetos (Python)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Segoe UI"/>
              </a:rPr>
              <a:t>Encapsulamiento:</a:t>
            </a:r>
          </a:p>
          <a:p>
            <a:pPr/>
            <a:r>
              <a:rPr sz="2000">
                <a:latin typeface="Segoe UI"/>
              </a:rPr>
              <a:t>• Acceso a datos abstraído mediante SQLAlchemy.</a:t>
            </a:r>
          </a:p>
          <a:p>
            <a:pPr/>
          </a:p>
          <a:p>
            <a:pPr/>
            <a:r>
              <a:rPr sz="2000">
                <a:latin typeface="Segoe UI"/>
              </a:rPr>
              <a:t>Herencia y Polimorfismo:</a:t>
            </a:r>
          </a:p>
          <a:p>
            <a:pPr/>
            <a:r>
              <a:rPr sz="2000">
                <a:latin typeface="Segoe UI"/>
              </a:rPr>
              <a:t>• Superclase 'PerfilBase' define comportamientos genéricos.</a:t>
            </a:r>
          </a:p>
          <a:p>
            <a:pPr/>
            <a:r>
              <a:rPr sz="2000">
                <a:latin typeface="Segoe UI"/>
              </a:rPr>
              <a:t>• Subclases 'PerfilAdmin' y 'PerfilBecario' sobrescriben métodos.</a:t>
            </a:r>
          </a:p>
          <a:p>
            <a:pPr/>
            <a:r>
              <a:rPr sz="2000">
                <a:latin typeface="Segoe UI"/>
              </a:rPr>
              <a:t>• Permite adaptar menús y permisos dinámicamente sin usar condicionales masivos.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>
                <a:solidFill>
                  <a:srgbClr val="003366"/>
                </a:solidFill>
                <a:latin typeface="Segoe UI"/>
              </a:rPr>
              <a:t>Desarrollo Web Frontend (UX/UI)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Segoe UI"/>
              </a:rPr>
              <a:t>Diseño Moderno y Responsivo:</a:t>
            </a:r>
          </a:p>
          <a:p>
            <a:pPr/>
            <a:r>
              <a:rPr sz="2000">
                <a:latin typeface="Segoe UI"/>
              </a:rPr>
              <a:t>• Interfaz adaptable a múltiples dispositivos mediante Bootstrap.</a:t>
            </a:r>
          </a:p>
          <a:p>
            <a:pPr/>
          </a:p>
          <a:p>
            <a:pPr/>
            <a:r>
              <a:rPr sz="2000">
                <a:latin typeface="Segoe UI"/>
              </a:rPr>
              <a:t>Experiencia de Usuario (UX):</a:t>
            </a:r>
          </a:p>
          <a:p>
            <a:pPr/>
            <a:r>
              <a:rPr sz="2000">
                <a:latin typeface="Segoe UI"/>
              </a:rPr>
              <a:t>• Notificaciones Flash para retroalimentación instantánea.</a:t>
            </a:r>
          </a:p>
          <a:p>
            <a:pPr/>
            <a:r>
              <a:rPr sz="2000">
                <a:latin typeface="Segoe UI"/>
              </a:rPr>
              <a:t>• Formularios con validación en tiempo real (evita errores humanos).</a:t>
            </a:r>
          </a:p>
          <a:p>
            <a:pPr/>
          </a:p>
          <a:p>
            <a:pPr/>
            <a:r>
              <a:rPr sz="2000">
                <a:latin typeface="Segoe UI"/>
              </a:rPr>
              <a:t>Organización:</a:t>
            </a:r>
          </a:p>
          <a:p>
            <a:pPr/>
            <a:r>
              <a:rPr sz="2000">
                <a:latin typeface="Segoe UI"/>
              </a:rPr>
              <a:t>• Uso de Blueprints en Flask para modularizar las rutas (escalabilidad).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>
                <a:solidFill>
                  <a:srgbClr val="003366"/>
                </a:solidFill>
                <a:latin typeface="Segoe UI"/>
              </a:rP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Segoe UI"/>
              </a:rPr>
              <a:t>• El sistema cumple con todos los requerimientos académicos.</a:t>
            </a:r>
          </a:p>
          <a:p>
            <a:pPr/>
            <a:r>
              <a:rPr sz="2000">
                <a:latin typeface="Segoe UI"/>
              </a:rPr>
              <a:t>• Arquitectura robusta lista para crecer en el futuro.</a:t>
            </a:r>
          </a:p>
          <a:p>
            <a:pPr/>
            <a:r>
              <a:rPr sz="2000">
                <a:latin typeface="Segoe UI"/>
              </a:rPr>
              <a:t>• Se implementaron buenas prácticas profesionales (Git colaborativo).</a:t>
            </a:r>
          </a:p>
          <a:p>
            <a:pPr/>
          </a:p>
          <a:p>
            <a:pPr/>
            <a:r>
              <a:rPr sz="2000">
                <a:latin typeface="Segoe UI"/>
              </a:rPr>
              <a:t>¡Gracias por su atención! 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